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Interphases" charset="1" panose="02000503020000020004"/>
      <p:regular r:id="rId16"/>
    </p:embeddedFont>
    <p:embeddedFont>
      <p:font typeface="Cooper BT Light" charset="1" panose="0208050304030B020404"/>
      <p:regular r:id="rId17"/>
    </p:embeddedFont>
    <p:embeddedFont>
      <p:font typeface="TT Interphases Bold" charset="1" panose="02000803060000020004"/>
      <p:regular r:id="rId18"/>
    </p:embeddedFont>
    <p:embeddedFont>
      <p:font typeface="Cooper BT Medium" charset="1" panose="0208060305030B0204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5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5398969"/>
            <a:chOff x="0" y="0"/>
            <a:chExt cx="11099800" cy="719862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680465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Web Application Project Overview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9075"/>
              <a:ext cx="11099800" cy="5999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C5F3F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Expense Tracker Website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2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334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334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5448300" cy="6267450"/>
            <a:chOff x="0" y="0"/>
            <a:chExt cx="1434943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334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589" y="828675"/>
            <a:ext cx="16952821" cy="11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C5F3F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Project Overview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05025" y="4248262"/>
            <a:ext cx="2571750" cy="3931734"/>
            <a:chOff x="0" y="0"/>
            <a:chExt cx="3429000" cy="524231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2875"/>
              <a:ext cx="3429000" cy="1474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C5F3F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39801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Manage Expenses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203452"/>
              <a:ext cx="34290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Easily add, edit, or delete expenses.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8125" y="4248150"/>
            <a:ext cx="2571750" cy="4322296"/>
            <a:chOff x="0" y="0"/>
            <a:chExt cx="3429000" cy="576306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2875"/>
              <a:ext cx="3429000" cy="1474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C5F3F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39801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Category Summary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203502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View expenses grouped by category easily.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4248150"/>
            <a:ext cx="2571750" cy="3827145"/>
            <a:chOff x="0" y="0"/>
            <a:chExt cx="3429000" cy="510286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2875"/>
              <a:ext cx="3429000" cy="1474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C5F3F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39801"/>
              <a:ext cx="34290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Visual Insights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543300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Analyze data with pie chart visualizations.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5113020"/>
            <a:chOff x="0" y="0"/>
            <a:chExt cx="11099800" cy="68173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7371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Many individuals struggle with </a:t>
              </a:r>
              <a:r>
                <a:rPr lang="en-US" b="true" sz="2400" spc="-48" strike="noStrike" u="none">
                  <a:solidFill>
                    <a:srgbClr val="C5F3F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manual expense tracking</a:t>
              </a: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facing issues such as </a:t>
              </a:r>
              <a:r>
                <a:rPr lang="en-US" b="true" sz="2400" spc="-48" strike="noStrike" u="none">
                  <a:solidFill>
                    <a:srgbClr val="C5F3F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errors</a:t>
              </a: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excessive time consumption, and a lack of insights into their finances. This project aims to address these challenges effectively.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C5F3F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Problem Statement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433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A0D6D6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The Challenges of Manual Expense Tracking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80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5400000">
            <a:off x="6176504" y="61454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00334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1971676"/>
            <a:chOff x="0" y="0"/>
            <a:chExt cx="9182100" cy="26289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10741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A0D6D6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Essential functionalities of the Expense Tracker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61925"/>
              <a:ext cx="9182100" cy="1561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C5F3F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Key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903605"/>
            <a:chOff x="0" y="0"/>
            <a:chExt cx="9182100" cy="12048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Add/Edit/Delete Expenses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Easily manage your expenses with full control.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1294130"/>
            <a:chOff x="0" y="0"/>
            <a:chExt cx="9182100" cy="17255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Search Functionality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Quickly find specific transactions using search options.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903605"/>
            <a:chOff x="0" y="0"/>
            <a:chExt cx="9182100" cy="12048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Filter Options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Organize expenses by categories for better insights.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903605"/>
            <a:chOff x="0" y="0"/>
            <a:chExt cx="9182100" cy="12048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Export Capability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Download your data in CSV format effortlessly.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7917" y="828675"/>
            <a:ext cx="14055058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C5F3F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Technology Stack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5448300" cy="5372100"/>
            <a:chOff x="0" y="0"/>
            <a:chExt cx="1434943" cy="141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808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434943" cy="143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3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5448300" cy="5372100"/>
            <a:chOff x="0" y="0"/>
            <a:chExt cx="1434943" cy="1414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808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34943" cy="143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3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5448300" cy="5372100"/>
            <a:chOff x="0" y="0"/>
            <a:chExt cx="1434943" cy="1414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0808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34943" cy="1433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3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92088" y="6141253"/>
            <a:ext cx="4010025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b="true" sz="2250" spc="-44" strike="noStrike" u="none">
                <a:solidFill>
                  <a:srgbClr val="C5F3F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Chart.js</a:t>
            </a:r>
            <a:r>
              <a:rPr lang="en-US" sz="2250" spc="-4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is used for data visualization, providing interactive and dynamic charts, while </a:t>
            </a:r>
            <a:r>
              <a:rPr lang="en-US" b="true" sz="2250" spc="-44" strike="noStrike" u="none">
                <a:solidFill>
                  <a:srgbClr val="C5F3F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JavaScript</a:t>
            </a:r>
            <a:r>
              <a:rPr lang="en-US" sz="2250" spc="-4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enhances functionality and user experience through seamless interactions and real-time updates.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2088" y="5105400"/>
            <a:ext cx="4010025" cy="48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2962" strike="noStrike" u="none">
                <a:solidFill>
                  <a:srgbClr val="A0D6D6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Visualization Tools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8038" y="6512674"/>
            <a:ext cx="3971925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pc="-4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We employ </a:t>
            </a:r>
            <a:r>
              <a:rPr lang="en-US" b="true" sz="2250" spc="-44" strike="noStrike" u="none">
                <a:solidFill>
                  <a:srgbClr val="C5F3F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LocalStorage</a:t>
            </a:r>
            <a:r>
              <a:rPr lang="en-US" sz="2250" spc="-4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store user data securely within the browser, allowing offline access and efficient data retrieval without needing a server-side database.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8038" y="5105454"/>
            <a:ext cx="3971925" cy="48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2962" strike="noStrike" u="none">
                <a:solidFill>
                  <a:srgbClr val="A0D6D6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Backend Storage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5887" y="6512728"/>
            <a:ext cx="4010025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pc="-4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project utilizes </a:t>
            </a:r>
            <a:r>
              <a:rPr lang="en-US" b="true" sz="2250" spc="-44" strike="noStrike" u="none">
                <a:solidFill>
                  <a:srgbClr val="C5F3F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HTML</a:t>
            </a:r>
            <a:r>
              <a:rPr lang="en-US" sz="2250" spc="-4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b="true" sz="2250" spc="-44" strike="noStrike" u="none">
                <a:solidFill>
                  <a:srgbClr val="C5F3F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CSS</a:t>
            </a:r>
            <a:r>
              <a:rPr lang="en-US" sz="2250" spc="-4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(featuring a Glassmorphism style for depth), and </a:t>
            </a:r>
            <a:r>
              <a:rPr lang="en-US" b="true" sz="2250" spc="-44" strike="noStrike" u="none">
                <a:solidFill>
                  <a:srgbClr val="C5F3F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Bootstrap</a:t>
            </a:r>
            <a:r>
              <a:rPr lang="en-US" sz="2250" spc="-4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for responsive design, ensuring a modern and user-friendly interface across devices.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887" y="5105400"/>
            <a:ext cx="4010025" cy="48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2962" strike="noStrike" u="none">
                <a:solidFill>
                  <a:srgbClr val="A0D6D6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Frontend Technologies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10445243">
            <a:off x="-689073" y="5800140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5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74696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934200"/>
            <a:ext cx="4010025" cy="2712720"/>
            <a:chOff x="0" y="0"/>
            <a:chExt cx="1056138" cy="714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714461"/>
            </a:xfrm>
            <a:custGeom>
              <a:avLst/>
              <a:gdLst/>
              <a:ahLst/>
              <a:cxnLst/>
              <a:rect r="r" b="b" t="t" l="l"/>
              <a:pathLst>
                <a:path h="714461" w="1056138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7236"/>
                  </a:lnTo>
                  <a:cubicBezTo>
                    <a:pt x="1056138" y="679886"/>
                    <a:pt x="1021563" y="714461"/>
                    <a:pt x="978913" y="714461"/>
                  </a:cubicBezTo>
                  <a:lnTo>
                    <a:pt x="77226" y="714461"/>
                  </a:lnTo>
                  <a:cubicBezTo>
                    <a:pt x="34575" y="714461"/>
                    <a:pt x="0" y="679886"/>
                    <a:pt x="0" y="637236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024F4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723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11225" y="6934200"/>
            <a:ext cx="4010025" cy="2686050"/>
            <a:chOff x="0" y="0"/>
            <a:chExt cx="1056138" cy="7074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707437"/>
            </a:xfrm>
            <a:custGeom>
              <a:avLst/>
              <a:gdLst/>
              <a:ahLst/>
              <a:cxnLst/>
              <a:rect r="r" b="b" t="t" l="l"/>
              <a:pathLst>
                <a:path h="707437" w="1056138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0211"/>
                  </a:lnTo>
                  <a:cubicBezTo>
                    <a:pt x="1056138" y="672862"/>
                    <a:pt x="1021563" y="707437"/>
                    <a:pt x="978913" y="707437"/>
                  </a:cubicBezTo>
                  <a:lnTo>
                    <a:pt x="77226" y="707437"/>
                  </a:lnTo>
                  <a:cubicBezTo>
                    <a:pt x="34575" y="707437"/>
                    <a:pt x="0" y="672862"/>
                    <a:pt x="0" y="63021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024F4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716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66750"/>
            <a:ext cx="4010025" cy="5956430"/>
            <a:chOff x="0" y="0"/>
            <a:chExt cx="812800" cy="120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207321"/>
            </a:xfrm>
            <a:custGeom>
              <a:avLst/>
              <a:gdLst/>
              <a:ahLst/>
              <a:cxnLst/>
              <a:rect r="r" b="b" t="t" l="l"/>
              <a:pathLst>
                <a:path h="1207321" w="812800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2"/>
              <a:stretch>
                <a:fillRect l="-118315" t="0" r="-11831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11225" y="666750"/>
            <a:ext cx="4010025" cy="5956430"/>
            <a:chOff x="0" y="0"/>
            <a:chExt cx="812800" cy="120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207321"/>
            </a:xfrm>
            <a:custGeom>
              <a:avLst/>
              <a:gdLst/>
              <a:ahLst/>
              <a:cxnLst/>
              <a:rect r="r" b="b" t="t" l="l"/>
              <a:pathLst>
                <a:path h="1207321" w="812800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81225" r="0" b="-77707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6750" y="828675"/>
            <a:ext cx="6886575" cy="435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C5F3F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Dashboard Functionality and Expense Management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84671" y="7454265"/>
            <a:ext cx="3257550" cy="1547949"/>
            <a:chOff x="0" y="0"/>
            <a:chExt cx="4343400" cy="206393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4343400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65"/>
                </a:lnSpc>
                <a:spcBef>
                  <a:spcPct val="0"/>
                </a:spcBef>
              </a:pPr>
              <a:r>
                <a:rPr lang="en-US" sz="2887">
                  <a:solidFill>
                    <a:srgbClr val="A0D6D6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Add Expense Form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130300"/>
              <a:ext cx="4343400" cy="933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057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User-friendly interface for inputting expenses quickly.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987462" y="7454265"/>
            <a:ext cx="3257550" cy="1909899"/>
            <a:chOff x="0" y="0"/>
            <a:chExt cx="4343400" cy="254653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9525"/>
              <a:ext cx="4343400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65"/>
                </a:lnSpc>
                <a:spcBef>
                  <a:spcPct val="0"/>
                </a:spcBef>
              </a:pPr>
              <a:r>
                <a:rPr lang="en-US" sz="2887">
                  <a:solidFill>
                    <a:srgbClr val="A0D6D6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Expense List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30300"/>
              <a:ext cx="4343400" cy="1416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057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Organized overview of all tracked expenses effectively.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5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4696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934200"/>
            <a:ext cx="4010025" cy="2712720"/>
            <a:chOff x="0" y="0"/>
            <a:chExt cx="1056138" cy="714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714461"/>
            </a:xfrm>
            <a:custGeom>
              <a:avLst/>
              <a:gdLst/>
              <a:ahLst/>
              <a:cxnLst/>
              <a:rect r="r" b="b" t="t" l="l"/>
              <a:pathLst>
                <a:path h="714461" w="1056138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7236"/>
                  </a:lnTo>
                  <a:cubicBezTo>
                    <a:pt x="1056138" y="679886"/>
                    <a:pt x="1021563" y="714461"/>
                    <a:pt x="978913" y="714461"/>
                  </a:cubicBezTo>
                  <a:lnTo>
                    <a:pt x="77226" y="714461"/>
                  </a:lnTo>
                  <a:cubicBezTo>
                    <a:pt x="34575" y="714461"/>
                    <a:pt x="0" y="679886"/>
                    <a:pt x="0" y="637236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00334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56138" cy="743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11225" y="6934200"/>
            <a:ext cx="4010025" cy="2686050"/>
            <a:chOff x="0" y="0"/>
            <a:chExt cx="1056138" cy="7074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707437"/>
            </a:xfrm>
            <a:custGeom>
              <a:avLst/>
              <a:gdLst/>
              <a:ahLst/>
              <a:cxnLst/>
              <a:rect r="r" b="b" t="t" l="l"/>
              <a:pathLst>
                <a:path h="707437" w="1056138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0211"/>
                  </a:lnTo>
                  <a:cubicBezTo>
                    <a:pt x="1056138" y="672862"/>
                    <a:pt x="1021563" y="707437"/>
                    <a:pt x="978913" y="707437"/>
                  </a:cubicBezTo>
                  <a:lnTo>
                    <a:pt x="77226" y="707437"/>
                  </a:lnTo>
                  <a:cubicBezTo>
                    <a:pt x="34575" y="707437"/>
                    <a:pt x="0" y="672862"/>
                    <a:pt x="0" y="63021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00334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56138" cy="736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75105" y="250552"/>
            <a:ext cx="5872240" cy="6356958"/>
          </a:xfrm>
          <a:custGeom>
            <a:avLst/>
            <a:gdLst/>
            <a:ahLst/>
            <a:cxnLst/>
            <a:rect r="r" b="b" t="t" l="l"/>
            <a:pathLst>
              <a:path h="6356958" w="5872240">
                <a:moveTo>
                  <a:pt x="0" y="0"/>
                </a:moveTo>
                <a:lnTo>
                  <a:pt x="5872240" y="0"/>
                </a:lnTo>
                <a:lnTo>
                  <a:pt x="587224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6750" y="828675"/>
            <a:ext cx="6886575" cy="328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C5F3F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Visual Insights from Expense Dashboard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84671" y="7454265"/>
            <a:ext cx="3257550" cy="1615440"/>
            <a:chOff x="0" y="0"/>
            <a:chExt cx="4343400" cy="21539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4343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64"/>
                </a:lnSpc>
                <a:spcBef>
                  <a:spcPct val="0"/>
                </a:spcBef>
              </a:pPr>
              <a:r>
                <a:rPr lang="en-US" sz="2637">
                  <a:solidFill>
                    <a:srgbClr val="A0D6D6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Pie Chart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60450"/>
              <a:ext cx="43434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Visual representation of expenses by category.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7462" y="7454265"/>
            <a:ext cx="3257550" cy="1615440"/>
            <a:chOff x="0" y="0"/>
            <a:chExt cx="4343400" cy="215392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4343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64"/>
                </a:lnSpc>
                <a:spcBef>
                  <a:spcPct val="0"/>
                </a:spcBef>
              </a:pPr>
              <a:r>
                <a:rPr lang="en-US" sz="2637">
                  <a:solidFill>
                    <a:srgbClr val="A0D6D6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Expense Distribution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060450"/>
              <a:ext cx="43434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Insightful breakdown of spending habits.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1671190" y="6942954"/>
            <a:ext cx="21630379" cy="0"/>
          </a:xfrm>
          <a:prstGeom prst="line">
            <a:avLst/>
          </a:prstGeom>
          <a:ln cap="flat" w="28575">
            <a:solidFill>
              <a:srgbClr val="C5F3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828675"/>
            <a:ext cx="16954500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C5F3F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Workflow Overview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700588" y="6814366"/>
            <a:ext cx="257175" cy="2571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F3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66366" y="6814366"/>
            <a:ext cx="257175" cy="25717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F3F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0" y="6814366"/>
            <a:ext cx="257175" cy="25717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F3F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82238" y="6814366"/>
            <a:ext cx="257175" cy="25717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F3F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97752" y="3352800"/>
            <a:ext cx="1062847" cy="1190561"/>
          </a:xfrm>
          <a:custGeom>
            <a:avLst/>
            <a:gdLst/>
            <a:ahLst/>
            <a:cxnLst/>
            <a:rect r="r" b="b" t="t" l="l"/>
            <a:pathLst>
              <a:path h="1190561" w="1062847">
                <a:moveTo>
                  <a:pt x="0" y="0"/>
                </a:moveTo>
                <a:lnTo>
                  <a:pt x="1062846" y="0"/>
                </a:lnTo>
                <a:lnTo>
                  <a:pt x="1062846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7159921" y="3352800"/>
            <a:ext cx="1101811" cy="1190561"/>
          </a:xfrm>
          <a:custGeom>
            <a:avLst/>
            <a:gdLst/>
            <a:ahLst/>
            <a:cxnLst/>
            <a:rect r="r" b="b" t="t" l="l"/>
            <a:pathLst>
              <a:path h="1190561" w="1101811">
                <a:moveTo>
                  <a:pt x="0" y="0"/>
                </a:moveTo>
                <a:lnTo>
                  <a:pt x="1101810" y="0"/>
                </a:lnTo>
                <a:lnTo>
                  <a:pt x="1101810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033225" y="3352800"/>
            <a:ext cx="1123457" cy="1190561"/>
          </a:xfrm>
          <a:custGeom>
            <a:avLst/>
            <a:gdLst/>
            <a:ahLst/>
            <a:cxnLst/>
            <a:rect r="r" b="b" t="t" l="l"/>
            <a:pathLst>
              <a:path h="1190561" w="1123457">
                <a:moveTo>
                  <a:pt x="0" y="0"/>
                </a:moveTo>
                <a:lnTo>
                  <a:pt x="1123457" y="0"/>
                </a:lnTo>
                <a:lnTo>
                  <a:pt x="1123457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2940823" y="3352800"/>
            <a:ext cx="1045529" cy="1190561"/>
          </a:xfrm>
          <a:custGeom>
            <a:avLst/>
            <a:gdLst/>
            <a:ahLst/>
            <a:cxnLst/>
            <a:rect r="r" b="b" t="t" l="l"/>
            <a:pathLst>
              <a:path h="1190561" w="1045529">
                <a:moveTo>
                  <a:pt x="0" y="0"/>
                </a:moveTo>
                <a:lnTo>
                  <a:pt x="1045529" y="0"/>
                </a:lnTo>
                <a:lnTo>
                  <a:pt x="1045529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3543300" y="5243052"/>
            <a:ext cx="25717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9"/>
              </a:lnSpc>
              <a:spcBef>
                <a:spcPct val="0"/>
              </a:spcBef>
            </a:pPr>
            <a:r>
              <a:rPr lang="en-US" sz="2407">
                <a:solidFill>
                  <a:srgbClr val="A0D6D6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User Login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43300" y="7824476"/>
            <a:ext cx="2571750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pc="-2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Secure access for users to log in.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30052" y="5243052"/>
            <a:ext cx="25615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9"/>
              </a:lnSpc>
              <a:spcBef>
                <a:spcPct val="0"/>
              </a:spcBef>
            </a:pPr>
            <a:r>
              <a:rPr lang="en-US" sz="2407">
                <a:solidFill>
                  <a:srgbClr val="A0D6D6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Add Expense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30052" y="7824476"/>
            <a:ext cx="25615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pc="-2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Users can easily input and manage expenses.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82475" y="5243052"/>
            <a:ext cx="256222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9"/>
              </a:lnSpc>
              <a:spcBef>
                <a:spcPct val="0"/>
              </a:spcBef>
            </a:pPr>
            <a:r>
              <a:rPr lang="en-US" sz="2407">
                <a:solidFill>
                  <a:srgbClr val="A0D6D6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Dynamic Updates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82475" y="7824476"/>
            <a:ext cx="256222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pc="-2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Tables and charts reflect real-time data changes.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05925" y="5243052"/>
            <a:ext cx="256222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9"/>
              </a:lnSpc>
              <a:spcBef>
                <a:spcPct val="0"/>
              </a:spcBef>
            </a:pPr>
            <a:r>
              <a:rPr lang="en-US" sz="2407">
                <a:solidFill>
                  <a:srgbClr val="A0D6D6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Group Expenses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05925" y="7829550"/>
            <a:ext cx="256222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pc="-24" strike="noStrike" u="none">
                <a:solidFill>
                  <a:srgbClr val="C5F3F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Expenses are organized by selected categories.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00808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3438526"/>
            <a:chOff x="0" y="0"/>
            <a:chExt cx="9182100" cy="45847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45841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A0D6D6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Addressing common development hurdles effectively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61925"/>
              <a:ext cx="9182100" cy="299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C5F3F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Challenges &amp; Solutions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903605"/>
            <a:chOff x="0" y="0"/>
            <a:chExt cx="9182100" cy="12048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Dropdown Issues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Resolved visibility problems during user interaction.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903605"/>
            <a:chOff x="0" y="0"/>
            <a:chExt cx="9182100" cy="12048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Data Synchronization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Ensured accurate updates for chart data display.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1294130"/>
            <a:chOff x="0" y="0"/>
            <a:chExt cx="9182100" cy="17255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Dark/Light Mode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Successfully implemented seamless theme switching functionality.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1294130"/>
            <a:chOff x="0" y="0"/>
            <a:chExt cx="9182100" cy="17255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A0D6D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User Experience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C5F3F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Enhanced overall usability through consistent design improvements.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5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28675"/>
            <a:ext cx="8324850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C5F3F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2053501"/>
            <a:ext cx="8324850" cy="756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Name - Dhairya Verma , Vansh Pal</a:t>
            </a:r>
          </a:p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College: Shri Ram Group of Colleges</a:t>
            </a:r>
          </a:p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Course / Semester: e.g., B.Tech CSE – 2nd Year</a:t>
            </a:r>
          </a:p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Mentor - Mr. Vineet Tyagi</a:t>
            </a:r>
          </a:p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Head of Department - Mr. Ashish Chauhan</a:t>
            </a:r>
          </a:p>
          <a:p>
            <a:pPr algn="l">
              <a:lnSpc>
                <a:spcPts val="4344"/>
              </a:lnSpc>
            </a:pPr>
            <a:r>
              <a:rPr lang="en-US" b="true" sz="2400" spc="-48" u="sng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Role in Project:</a:t>
            </a:r>
          </a:p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Designed and developed the Expense Tracker Dashboard</a:t>
            </a:r>
          </a:p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Implemented HTML, CSS (Glassmorphism), JavaScript, Chart.js</a:t>
            </a:r>
          </a:p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Created responsive design, category-wise charts, and dark/light mode</a:t>
            </a:r>
          </a:p>
          <a:p>
            <a:pPr algn="l">
              <a:lnSpc>
                <a:spcPts val="4344"/>
              </a:lnSpc>
            </a:pPr>
            <a:r>
              <a:rPr lang="en-US" b="true" sz="2400" spc="-48" u="sng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Skills Highlight: </a:t>
            </a:r>
          </a:p>
          <a:p>
            <a:pPr algn="l">
              <a:lnSpc>
                <a:spcPts val="4344"/>
              </a:lnSpc>
            </a:pPr>
            <a:r>
              <a:rPr lang="en-US" sz="2400" spc="-48" b="true">
                <a:solidFill>
                  <a:srgbClr val="A0D6D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Web development, UI design, JavaScript, problem-solving</a:t>
            </a:r>
          </a:p>
          <a:p>
            <a:pPr algn="l" marL="0" indent="0" lvl="0">
              <a:lnSpc>
                <a:spcPts val="434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708180" y="9066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Expense Tracker Dashboard</dc:description>
  <dc:identifier>DAG4PEr-ivg</dc:identifier>
  <dcterms:modified xsi:type="dcterms:W3CDTF">2011-08-01T06:04:30Z</dcterms:modified>
  <cp:revision>1</cp:revision>
  <dc:title>Presentation - Expense Tracker Dashboard</dc:title>
</cp:coreProperties>
</file>